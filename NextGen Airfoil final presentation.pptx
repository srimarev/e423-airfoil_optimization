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9CC060-509B-4725-BBBA-A96B807810DB}" v="22" dt="2026-06-07T17:58:18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ma Revankar" userId="203254a2a6931751" providerId="LiveId" clId="{86753E5D-03A1-4163-9AAF-4D54AC476A75}"/>
    <pc:docChg chg="undo custSel addSld modSld">
      <pc:chgData name="Srima Revankar" userId="203254a2a6931751" providerId="LiveId" clId="{86753E5D-03A1-4163-9AAF-4D54AC476A75}" dt="2026-06-07T18:03:01.459" v="506" actId="123"/>
      <pc:docMkLst>
        <pc:docMk/>
      </pc:docMkLst>
      <pc:sldChg chg="modSp mod">
        <pc:chgData name="Srima Revankar" userId="203254a2a6931751" providerId="LiveId" clId="{86753E5D-03A1-4163-9AAF-4D54AC476A75}" dt="2026-06-07T16:39:04.847" v="2" actId="948"/>
        <pc:sldMkLst>
          <pc:docMk/>
          <pc:sldMk cId="2509115060" sldId="257"/>
        </pc:sldMkLst>
        <pc:spChg chg="mod">
          <ac:chgData name="Srima Revankar" userId="203254a2a6931751" providerId="LiveId" clId="{86753E5D-03A1-4163-9AAF-4D54AC476A75}" dt="2026-06-07T16:39:04.847" v="2" actId="948"/>
          <ac:spMkLst>
            <pc:docMk/>
            <pc:sldMk cId="2509115060" sldId="257"/>
            <ac:spMk id="3" creationId="{E0AAF74A-03E1-FD9C-AEDB-615971BF0C1A}"/>
          </ac:spMkLst>
        </pc:spChg>
      </pc:sldChg>
      <pc:sldChg chg="modSp mod">
        <pc:chgData name="Srima Revankar" userId="203254a2a6931751" providerId="LiveId" clId="{86753E5D-03A1-4163-9AAF-4D54AC476A75}" dt="2026-06-07T18:03:01.459" v="506" actId="123"/>
        <pc:sldMkLst>
          <pc:docMk/>
          <pc:sldMk cId="4002773238" sldId="260"/>
        </pc:sldMkLst>
        <pc:spChg chg="mod">
          <ac:chgData name="Srima Revankar" userId="203254a2a6931751" providerId="LiveId" clId="{86753E5D-03A1-4163-9AAF-4D54AC476A75}" dt="2026-06-07T18:03:01.459" v="506" actId="123"/>
          <ac:spMkLst>
            <pc:docMk/>
            <pc:sldMk cId="4002773238" sldId="260"/>
            <ac:spMk id="5" creationId="{3EE6D215-91C3-2A59-844C-4A6A8573E467}"/>
          </ac:spMkLst>
        </pc:spChg>
      </pc:sldChg>
      <pc:sldChg chg="addSp delSp modSp new mod modClrScheme chgLayout">
        <pc:chgData name="Srima Revankar" userId="203254a2a6931751" providerId="LiveId" clId="{86753E5D-03A1-4163-9AAF-4D54AC476A75}" dt="2026-06-07T18:02:54.689" v="504" actId="120"/>
        <pc:sldMkLst>
          <pc:docMk/>
          <pc:sldMk cId="1633048548" sldId="262"/>
        </pc:sldMkLst>
        <pc:spChg chg="del mod ord">
          <ac:chgData name="Srima Revankar" userId="203254a2a6931751" providerId="LiveId" clId="{86753E5D-03A1-4163-9AAF-4D54AC476A75}" dt="2026-06-07T16:38:24.547" v="1" actId="700"/>
          <ac:spMkLst>
            <pc:docMk/>
            <pc:sldMk cId="1633048548" sldId="262"/>
            <ac:spMk id="2" creationId="{A69A5AC9-0183-FF83-B776-13B8399C62C7}"/>
          </ac:spMkLst>
        </pc:spChg>
        <pc:spChg chg="del mod ord">
          <ac:chgData name="Srima Revankar" userId="203254a2a6931751" providerId="LiveId" clId="{86753E5D-03A1-4163-9AAF-4D54AC476A75}" dt="2026-06-07T16:38:24.547" v="1" actId="700"/>
          <ac:spMkLst>
            <pc:docMk/>
            <pc:sldMk cId="1633048548" sldId="262"/>
            <ac:spMk id="3" creationId="{74B418FD-9A44-6D20-4C9A-6DE106985764}"/>
          </ac:spMkLst>
        </pc:spChg>
        <pc:spChg chg="del">
          <ac:chgData name="Srima Revankar" userId="203254a2a6931751" providerId="LiveId" clId="{86753E5D-03A1-4163-9AAF-4D54AC476A75}" dt="2026-06-07T16:38:24.547" v="1" actId="700"/>
          <ac:spMkLst>
            <pc:docMk/>
            <pc:sldMk cId="1633048548" sldId="262"/>
            <ac:spMk id="4" creationId="{F3D2526B-D420-2392-9800-5891A4CD0BC1}"/>
          </ac:spMkLst>
        </pc:spChg>
        <pc:spChg chg="add mod ord">
          <ac:chgData name="Srima Revankar" userId="203254a2a6931751" providerId="LiveId" clId="{86753E5D-03A1-4163-9AAF-4D54AC476A75}" dt="2026-06-07T18:00:36.679" v="411" actId="1076"/>
          <ac:spMkLst>
            <pc:docMk/>
            <pc:sldMk cId="1633048548" sldId="262"/>
            <ac:spMk id="5" creationId="{12AFA372-D1CC-968E-209E-CBA4A75ACFA8}"/>
          </ac:spMkLst>
        </pc:spChg>
        <pc:spChg chg="add mod ord">
          <ac:chgData name="Srima Revankar" userId="203254a2a6931751" providerId="LiveId" clId="{86753E5D-03A1-4163-9AAF-4D54AC476A75}" dt="2026-06-07T18:00:50.068" v="414" actId="14100"/>
          <ac:spMkLst>
            <pc:docMk/>
            <pc:sldMk cId="1633048548" sldId="262"/>
            <ac:spMk id="6" creationId="{75E87A7C-D3B2-C4BC-27D9-E818F29DEAF9}"/>
          </ac:spMkLst>
        </pc:spChg>
        <pc:spChg chg="add mod">
          <ac:chgData name="Srima Revankar" userId="203254a2a6931751" providerId="LiveId" clId="{86753E5D-03A1-4163-9AAF-4D54AC476A75}" dt="2026-06-07T18:02:45.202" v="500" actId="120"/>
          <ac:spMkLst>
            <pc:docMk/>
            <pc:sldMk cId="1633048548" sldId="262"/>
            <ac:spMk id="15" creationId="{0B651044-1B5D-5F03-CCAD-56D39B4147B2}"/>
          </ac:spMkLst>
        </pc:spChg>
        <pc:spChg chg="add mod">
          <ac:chgData name="Srima Revankar" userId="203254a2a6931751" providerId="LiveId" clId="{86753E5D-03A1-4163-9AAF-4D54AC476A75}" dt="2026-06-07T17:55:13.663" v="333" actId="767"/>
          <ac:spMkLst>
            <pc:docMk/>
            <pc:sldMk cId="1633048548" sldId="262"/>
            <ac:spMk id="16" creationId="{BBE6CC34-AC91-CADF-3FD0-6539FA317120}"/>
          </ac:spMkLst>
        </pc:spChg>
        <pc:spChg chg="add mod">
          <ac:chgData name="Srima Revankar" userId="203254a2a6931751" providerId="LiveId" clId="{86753E5D-03A1-4163-9AAF-4D54AC476A75}" dt="2026-06-07T18:02:54.689" v="504" actId="120"/>
          <ac:spMkLst>
            <pc:docMk/>
            <pc:sldMk cId="1633048548" sldId="262"/>
            <ac:spMk id="17" creationId="{579CBDF6-1731-ED65-998D-B3303E87C42B}"/>
          </ac:spMkLst>
        </pc:spChg>
        <pc:spChg chg="add mod">
          <ac:chgData name="Srima Revankar" userId="203254a2a6931751" providerId="LiveId" clId="{86753E5D-03A1-4163-9AAF-4D54AC476A75}" dt="2026-06-07T18:01:40.229" v="452" actId="1076"/>
          <ac:spMkLst>
            <pc:docMk/>
            <pc:sldMk cId="1633048548" sldId="262"/>
            <ac:spMk id="18" creationId="{B823BEDE-21CA-FC88-EE6D-5090C878E01A}"/>
          </ac:spMkLst>
        </pc:spChg>
        <pc:spChg chg="add mod">
          <ac:chgData name="Srima Revankar" userId="203254a2a6931751" providerId="LiveId" clId="{86753E5D-03A1-4163-9AAF-4D54AC476A75}" dt="2026-06-07T18:02:11.440" v="496" actId="1076"/>
          <ac:spMkLst>
            <pc:docMk/>
            <pc:sldMk cId="1633048548" sldId="262"/>
            <ac:spMk id="19" creationId="{4A3098CC-DCB2-8938-8E01-C92234BDC39C}"/>
          </ac:spMkLst>
        </pc:spChg>
        <pc:spChg chg="add mod">
          <ac:chgData name="Srima Revankar" userId="203254a2a6931751" providerId="LiveId" clId="{86753E5D-03A1-4163-9AAF-4D54AC476A75}" dt="2026-06-07T18:02:49.363" v="502" actId="120"/>
          <ac:spMkLst>
            <pc:docMk/>
            <pc:sldMk cId="1633048548" sldId="262"/>
            <ac:spMk id="20" creationId="{E5D0E680-93F3-BBFB-351D-F798BFB5C6F4}"/>
          </ac:spMkLst>
        </pc:spChg>
        <pc:spChg chg="add mod">
          <ac:chgData name="Srima Revankar" userId="203254a2a6931751" providerId="LiveId" clId="{86753E5D-03A1-4163-9AAF-4D54AC476A75}" dt="2026-06-07T17:59:05.418" v="405" actId="14100"/>
          <ac:spMkLst>
            <pc:docMk/>
            <pc:sldMk cId="1633048548" sldId="262"/>
            <ac:spMk id="21" creationId="{C49217FB-B9C8-0A78-401C-6E0F321C7368}"/>
          </ac:spMkLst>
        </pc:spChg>
        <pc:picChg chg="add mod">
          <ac:chgData name="Srima Revankar" userId="203254a2a6931751" providerId="LiveId" clId="{86753E5D-03A1-4163-9AAF-4D54AC476A75}" dt="2026-06-07T17:55:55.921" v="342" actId="14100"/>
          <ac:picMkLst>
            <pc:docMk/>
            <pc:sldMk cId="1633048548" sldId="262"/>
            <ac:picMk id="8" creationId="{6F7442BA-8E20-EEB2-6CC8-94219661A88B}"/>
          </ac:picMkLst>
        </pc:picChg>
        <pc:picChg chg="add mod">
          <ac:chgData name="Srima Revankar" userId="203254a2a6931751" providerId="LiveId" clId="{86753E5D-03A1-4163-9AAF-4D54AC476A75}" dt="2026-06-07T17:55:58.818" v="343" actId="14100"/>
          <ac:picMkLst>
            <pc:docMk/>
            <pc:sldMk cId="1633048548" sldId="262"/>
            <ac:picMk id="10" creationId="{F2562194-AFA9-4744-56C9-789DD3A8688F}"/>
          </ac:picMkLst>
        </pc:picChg>
        <pc:picChg chg="add mod">
          <ac:chgData name="Srima Revankar" userId="203254a2a6931751" providerId="LiveId" clId="{86753E5D-03A1-4163-9AAF-4D54AC476A75}" dt="2026-06-07T17:56:33.834" v="360" actId="14100"/>
          <ac:picMkLst>
            <pc:docMk/>
            <pc:sldMk cId="1633048548" sldId="262"/>
            <ac:picMk id="12" creationId="{2517582D-D69C-0698-22C7-D80F47E910B5}"/>
          </ac:picMkLst>
        </pc:picChg>
        <pc:picChg chg="add mod">
          <ac:chgData name="Srima Revankar" userId="203254a2a6931751" providerId="LiveId" clId="{86753E5D-03A1-4163-9AAF-4D54AC476A75}" dt="2026-06-07T17:56:38.521" v="362" actId="14100"/>
          <ac:picMkLst>
            <pc:docMk/>
            <pc:sldMk cId="1633048548" sldId="262"/>
            <ac:picMk id="14" creationId="{BA32CC12-19A7-1CC5-3E98-D508601F52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FEC39-F07A-46CB-8BA2-DEF66CD83DAD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56768-9506-45C7-9AD7-A3FCED612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14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56768-9506-45C7-9AD7-A3FCED612F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74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56768-9506-45C7-9AD7-A3FCED612F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193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6136-CAAF-8DEB-FAA3-37132EB7D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CC61B-519F-F2E1-3BFE-7357F9413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5A9D-C634-27A4-68C4-459414C6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28BA0-B399-A128-9111-E1A7E263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96E90-60F4-F754-75C4-1AA30246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58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D0E1-AE3A-3498-31C4-E8326AEDF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87DC6-BFD8-FCDD-E0C0-3EE710BD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42053-5926-01F4-E3F7-786B5BA9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C65C4-C0AA-FD15-88A4-FE0FC68A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A226E-BEF1-0D04-FD12-DB6DE4B6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4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5D25-2F03-9087-C9EF-A1C37EEF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B2BE0-B44A-BF4D-DEAC-E4AD5965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EE7C3-C300-511D-9C87-DC0CC6DC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71A06-7ED2-FAAA-5BAA-3A443BEEA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EFC0E-B4F5-1678-45CD-E1BFA4D9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100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D74D-8922-FECF-0981-F5D7E320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6D918-B30B-2769-D348-BFED25607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B78A5-B1F6-A12F-D89E-E247D5050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71751-6A60-0E5A-B0D0-A8594B51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88DBB-B366-D755-E5C5-59CFA929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33BD1-F493-6394-0E8A-190BA25B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921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35A8-AC5E-811A-3CF4-E2546F64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BA421-7BFF-D353-FD65-30BFAECE6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1F2F9-F9B2-BC72-4D7E-49B538332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F54C9-FF2C-E381-A1D6-D2B1B1070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C452F-1253-809D-1020-45AF16E49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F626C-E972-68F5-05D5-F558FA9C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B035AA-22D2-501C-FC9A-4A3BECFA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CC93B-5800-5B9B-CB51-4785B857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2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9CB9-B604-C887-62FF-0BF9B178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EFD90-DA3C-1C02-E86E-D01E25FB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0CA77-FCA2-73CC-58F1-60091B9D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FFE5E-B609-F497-8F7E-5BB565AF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93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6F156-A793-74A4-0195-322A9059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C67A6-1CC9-8B5D-2AC2-70ED6D970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8BEE0-8513-E014-E396-D2DCDD02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29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DBC4-8D81-9BA3-CEAA-C6D7FD05F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A87DD-2387-1F24-CB2A-410DE0D45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96E15-035B-B310-D01B-F92F620CF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71AFF-F8A7-6B8B-94C2-4C829833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4DB1C-FC5E-A0D6-02B8-89FC49F9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190D5-357F-D621-8E2D-90DD54EF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50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259F-CE34-8214-8016-9E6119C5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CD8C7-A903-3F18-BE76-284F5067A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7B518-5D80-EDC5-ED7D-64595BD1F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609E1-F6C9-2325-14F4-AABAC42D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F0DFC-79CD-F73D-8188-854A1F7D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1BBAB-C8FA-36D5-67F6-352CC83CE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79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08F79-41C5-7FDE-52A8-B94AC58B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C508A-18E2-2FFA-0C9D-DF8758E43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5D54C-821E-41AB-6B70-C33E5690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0F035-174A-4597-7D74-5E27DCBA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2E402-9304-35CD-FCD3-DE8BF6D4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561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41259-C59E-68C6-3092-61330B604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20645-1904-01EE-DD90-2C2227CBE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BCBE-4DEA-2603-0161-19F549A6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78E4D-D465-B7A3-AFE4-16675B3A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A2C38-4F63-C805-A470-2BC2D943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89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3E7029-8B69-0CFA-5039-A6DBFD98C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83D86-2D82-72DC-3976-52846F358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DFB41-DD5F-B7F4-C8F8-F4E9E8DD6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6FC27-899F-43F0-BB85-D2C0CC537682}" type="datetimeFigureOut">
              <a:rPr lang="en-IN" smtClean="0"/>
              <a:t>07-06-2026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E686A-B3CA-C3A3-0FDF-CBB72BFEE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3C720-7F6A-57B1-A69A-89E602822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7F1FF-457D-4839-98D3-11287688C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32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1F2B-DF5F-EC5B-32D8-F37B5FF01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6503"/>
            <a:ext cx="9144000" cy="1002737"/>
          </a:xfrm>
        </p:spPr>
        <p:txBody>
          <a:bodyPr/>
          <a:lstStyle/>
          <a:p>
            <a:r>
              <a:rPr lang="en-IN" dirty="0">
                <a:latin typeface="Bookman Old Style" panose="02050604050505020204" pitchFamily="18" charset="0"/>
              </a:rPr>
              <a:t>NextGen </a:t>
            </a:r>
            <a:r>
              <a:rPr lang="en-IN" dirty="0" err="1">
                <a:latin typeface="Bookman Old Style" panose="02050604050505020204" pitchFamily="18" charset="0"/>
              </a:rPr>
              <a:t>Airfoil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557BF3-2CED-3718-59EC-1DF67FF86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9366"/>
            <a:ext cx="9144000" cy="1884362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DP2 – AIRFOIL SHAPE OPTIMIZATION</a:t>
            </a:r>
          </a:p>
          <a:p>
            <a:r>
              <a:rPr lang="en-IN" dirty="0">
                <a:latin typeface="Bookman Old Style" panose="02050604050505020204" pitchFamily="18" charset="0"/>
              </a:rPr>
              <a:t>Srima Santosh Revankar – 1RV24AS052</a:t>
            </a:r>
          </a:p>
          <a:p>
            <a:r>
              <a:rPr lang="en-IN" dirty="0">
                <a:latin typeface="Bookman Old Style" panose="02050604050505020204" pitchFamily="18" charset="0"/>
              </a:rPr>
              <a:t>Rishit Kumar – 1RV24AS042</a:t>
            </a:r>
          </a:p>
          <a:p>
            <a:r>
              <a:rPr lang="en-IN" dirty="0">
                <a:latin typeface="Bookman Old Style" panose="02050604050505020204" pitchFamily="18" charset="0"/>
              </a:rPr>
              <a:t>Shreyas Deshmukh – 1RV24AS047</a:t>
            </a:r>
          </a:p>
          <a:p>
            <a:r>
              <a:rPr lang="en-IN" dirty="0">
                <a:latin typeface="Bookman Old Style" panose="02050604050505020204" pitchFamily="18" charset="0"/>
              </a:rPr>
              <a:t>Sai Arvind Akella – 1RV24AS045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CE5D9-5BB4-B89F-399D-9490A716F116}"/>
              </a:ext>
            </a:extLst>
          </p:cNvPr>
          <p:cNvSpPr txBox="1"/>
          <p:nvPr/>
        </p:nvSpPr>
        <p:spPr>
          <a:xfrm>
            <a:off x="1460090" y="2030292"/>
            <a:ext cx="92718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Bookman Old Style" panose="02050604050505020204" pitchFamily="18" charset="0"/>
              </a:rPr>
              <a:t>Computational Design for enhanced Lift-to-Drag Ratio</a:t>
            </a:r>
          </a:p>
        </p:txBody>
      </p:sp>
    </p:spTree>
    <p:extLst>
      <p:ext uri="{BB962C8B-B14F-4D97-AF65-F5344CB8AC3E}">
        <p14:creationId xmlns:p14="http://schemas.microsoft.com/office/powerpoint/2010/main" val="1052007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BDF6-5E15-6059-6BA4-D437BE6B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5" y="281523"/>
            <a:ext cx="11729884" cy="539442"/>
          </a:xfrm>
        </p:spPr>
        <p:txBody>
          <a:bodyPr>
            <a:noAutofit/>
          </a:bodyPr>
          <a:lstStyle/>
          <a:p>
            <a:r>
              <a:rPr lang="en-IN" sz="2800" dirty="0">
                <a:latin typeface="Bookman Old Style" panose="02050604050505020204" pitchFamily="18" charset="0"/>
              </a:rPr>
              <a:t>Problem Understanding + Planning &amp; Approach + 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F74A-03E1-FD9C-AEDB-615971BF0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953702"/>
            <a:ext cx="11995355" cy="5904298"/>
          </a:xfrm>
        </p:spPr>
        <p:txBody>
          <a:bodyPr>
            <a:no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Problem understanding</a:t>
            </a:r>
            <a:r>
              <a:rPr lang="en-IN" sz="2000" dirty="0">
                <a:latin typeface="Bookman Old Style" panose="02050604050505020204" pitchFamily="18" charset="0"/>
              </a:rPr>
              <a:t>: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900" dirty="0">
                <a:latin typeface="Bookman Old Style" panose="02050604050505020204" pitchFamily="18" charset="0"/>
              </a:rPr>
              <a:t>Airfoil geometry strongly affects lift, drag, pressure distribution and flow separation. The challenge is to improve aerodynamic efficiency (L/D) under specified operating conditions while maintaining structural feasibility (t/c ≥ 10%).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1900" b="1" dirty="0">
                <a:latin typeface="Bookman Old Style" panose="02050604050505020204" pitchFamily="18" charset="0"/>
              </a:rPr>
              <a:t>Planning and Approach: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Screened multiple airfoils from the UIUC database.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Evaluated aerodynamic performance using XFLR5.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Selected Eppler 423 (E423) as the baseline airfoil based on superior L/D performance.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Identified key geometric parameters affecting aerodynamic efficiency: thickness, thickness position, and camber.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Reduced thickness to lower drag.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Shifted maximum thickness forward for better pressure recovery.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Increased camber slightly to maintain lift.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Generated multiple design iterations in XFLR5.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Compared Cl, Cd, L/D, and stall characteristics.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Rejected high-L/D designs with poor stall behavior.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Selected the best balance of performance and stability.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Maintained t/c = 10.03% to satisfy structural feasibility requirements.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Compared baseline and optimized configurations.</a:t>
            </a:r>
          </a:p>
          <a:p>
            <a:pPr marL="457200" indent="-457200">
              <a:lnSpc>
                <a:spcPct val="60000"/>
              </a:lnSpc>
              <a:buFont typeface="+mj-lt"/>
              <a:buAutoNum type="arabicPeriod"/>
            </a:pPr>
            <a:r>
              <a:rPr lang="en-US" sz="1900" dirty="0">
                <a:latin typeface="Bookman Old Style" panose="02050604050505020204" pitchFamily="18" charset="0"/>
              </a:rPr>
              <a:t>Validated the final design using CFD simulations.</a:t>
            </a:r>
          </a:p>
        </p:txBody>
      </p:sp>
    </p:spTree>
    <p:extLst>
      <p:ext uri="{BB962C8B-B14F-4D97-AF65-F5344CB8AC3E}">
        <p14:creationId xmlns:p14="http://schemas.microsoft.com/office/powerpoint/2010/main" val="2509115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D9E8-8BC8-B4FD-1FDD-5C1AEE92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2" y="365126"/>
            <a:ext cx="10940848" cy="41162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Bookman Old Style" panose="02050604050505020204" pitchFamily="18" charset="0"/>
              </a:rPr>
              <a:t>Innovativeness of the Solution + Design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2903-E048-F153-9703-FF3B4CC22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2" y="776748"/>
            <a:ext cx="11366096" cy="5899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Why E423?</a:t>
            </a:r>
          </a:p>
          <a:p>
            <a:pPr>
              <a:lnSpc>
                <a:spcPct val="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Highest L/D among tested airfoils</a:t>
            </a:r>
          </a:p>
          <a:p>
            <a:pPr>
              <a:lnSpc>
                <a:spcPct val="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Strong low-Reynolds-number performance</a:t>
            </a:r>
          </a:p>
          <a:p>
            <a:pPr>
              <a:lnSpc>
                <a:spcPct val="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Satisfies thickness requirements</a:t>
            </a:r>
          </a:p>
          <a:p>
            <a:pPr>
              <a:lnSpc>
                <a:spcPct val="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Good potential for further optimization</a:t>
            </a:r>
          </a:p>
          <a:p>
            <a:pPr marL="0" indent="0">
              <a:buNone/>
            </a:pPr>
            <a:r>
              <a:rPr lang="en-US" sz="2000" b="1" dirty="0">
                <a:latin typeface="Bookman Old Style" panose="02050604050505020204" pitchFamily="18" charset="0"/>
              </a:rPr>
              <a:t>Innovativeness of Solution: </a:t>
            </a:r>
            <a:r>
              <a:rPr lang="en-US" sz="2000" dirty="0">
                <a:latin typeface="Bookman Old Style" panose="02050604050505020204" pitchFamily="18" charset="0"/>
              </a:rPr>
              <a:t>Instead of maximizing L/D alone, a constraint-driven and performance-balanced optimization approach was adopted.</a:t>
            </a:r>
          </a:p>
          <a:p>
            <a:pPr marL="0" indent="0"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Geometry Changes:</a:t>
            </a:r>
            <a:endParaRPr lang="en-IN" sz="1200" b="1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1200" b="1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b="1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59ACC4-F8C9-CDA5-7C19-1DE7DADD4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4178"/>
              </p:ext>
            </p:extLst>
          </p:nvPr>
        </p:nvGraphicFramePr>
        <p:xfrm>
          <a:off x="838200" y="3284937"/>
          <a:ext cx="6769511" cy="2936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64371">
                  <a:extLst>
                    <a:ext uri="{9D8B030D-6E8A-4147-A177-3AD203B41FA5}">
                      <a16:colId xmlns:a16="http://schemas.microsoft.com/office/drawing/2014/main" val="1489438203"/>
                    </a:ext>
                  </a:extLst>
                </a:gridCol>
                <a:gridCol w="1441986">
                  <a:extLst>
                    <a:ext uri="{9D8B030D-6E8A-4147-A177-3AD203B41FA5}">
                      <a16:colId xmlns:a16="http://schemas.microsoft.com/office/drawing/2014/main" val="1188049283"/>
                    </a:ext>
                  </a:extLst>
                </a:gridCol>
                <a:gridCol w="1631577">
                  <a:extLst>
                    <a:ext uri="{9D8B030D-6E8A-4147-A177-3AD203B41FA5}">
                      <a16:colId xmlns:a16="http://schemas.microsoft.com/office/drawing/2014/main" val="1962587331"/>
                    </a:ext>
                  </a:extLst>
                </a:gridCol>
                <a:gridCol w="1631577">
                  <a:extLst>
                    <a:ext uri="{9D8B030D-6E8A-4147-A177-3AD203B41FA5}">
                      <a16:colId xmlns:a16="http://schemas.microsoft.com/office/drawing/2014/main" val="3747860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Optimized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754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10.03%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Reduced Drag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875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Max Thickness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26.13%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23.72%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Improve pressure recovery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84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Max Camber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10.50%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Maintain lift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26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Max Camber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44.04%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44.04%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Retained for stability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58617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F11A607-B410-D45D-776D-3647669C3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34" t="66210" r="32433" b="18322"/>
          <a:stretch>
            <a:fillRect/>
          </a:stretch>
        </p:blipFill>
        <p:spPr>
          <a:xfrm>
            <a:off x="7997149" y="3287395"/>
            <a:ext cx="3781899" cy="1040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2F015B-A51A-6C0D-B825-A36294654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6" t="66056" r="31959" b="16668"/>
          <a:stretch>
            <a:fillRect/>
          </a:stretch>
        </p:blipFill>
        <p:spPr>
          <a:xfrm>
            <a:off x="7997149" y="4854551"/>
            <a:ext cx="3781899" cy="11405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3383B3-759E-1EAE-8C48-08D88046E9E7}"/>
              </a:ext>
            </a:extLst>
          </p:cNvPr>
          <p:cNvSpPr txBox="1"/>
          <p:nvPr/>
        </p:nvSpPr>
        <p:spPr>
          <a:xfrm>
            <a:off x="9424219" y="4327945"/>
            <a:ext cx="776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E423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21574D-45FC-BF81-F338-BE126AD1CC6A}"/>
              </a:ext>
            </a:extLst>
          </p:cNvPr>
          <p:cNvSpPr txBox="1"/>
          <p:nvPr/>
        </p:nvSpPr>
        <p:spPr>
          <a:xfrm>
            <a:off x="8760542" y="5995093"/>
            <a:ext cx="2104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Optimized E423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6537AC-A900-7393-D14F-C61457418811}"/>
              </a:ext>
            </a:extLst>
          </p:cNvPr>
          <p:cNvSpPr txBox="1"/>
          <p:nvPr/>
        </p:nvSpPr>
        <p:spPr>
          <a:xfrm>
            <a:off x="6713781" y="1250521"/>
            <a:ext cx="3312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i="1" dirty="0">
                <a:latin typeface="Bookman Old Style" panose="02050604050505020204" pitchFamily="18" charset="0"/>
              </a:rPr>
              <a:t>Final </a:t>
            </a:r>
            <a:r>
              <a:rPr lang="en-IN" sz="1400" b="1" i="1" dirty="0" err="1">
                <a:latin typeface="Bookman Old Style" panose="02050604050505020204" pitchFamily="18" charset="0"/>
              </a:rPr>
              <a:t>Airfoil</a:t>
            </a:r>
            <a:r>
              <a:rPr lang="en-IN" sz="1400" b="1" i="1" dirty="0">
                <a:latin typeface="Bookman Old Style" panose="02050604050505020204" pitchFamily="18" charset="0"/>
              </a:rPr>
              <a:t> Coordinates here =&gt;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82A0B9F-7FD0-41E5-2846-9719A2390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740103"/>
              </p:ext>
            </p:extLst>
          </p:nvPr>
        </p:nvGraphicFramePr>
        <p:xfrm>
          <a:off x="9888098" y="1161882"/>
          <a:ext cx="1959260" cy="870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1165754" imgH="518081" progId="Package">
                  <p:embed/>
                </p:oleObj>
              </mc:Choice>
              <mc:Fallback>
                <p:oleObj name="Packager Shell Object" showAsIcon="1" r:id="rId5" imgW="1165754" imgH="518081" progId="Package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82A0B9F-7FD0-41E5-2846-9719A23901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88098" y="1161882"/>
                        <a:ext cx="1959260" cy="870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628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1EE5-C329-2C4D-669C-B2313BD0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365125"/>
            <a:ext cx="11107994" cy="608269"/>
          </a:xfrm>
        </p:spPr>
        <p:txBody>
          <a:bodyPr>
            <a:noAutofit/>
          </a:bodyPr>
          <a:lstStyle/>
          <a:p>
            <a:r>
              <a:rPr lang="en-IN" sz="2800" dirty="0">
                <a:latin typeface="Bookman Old Style" panose="02050604050505020204" pitchFamily="18" charset="0"/>
              </a:rPr>
              <a:t>Results + Performance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0FCC3-32BA-8684-094E-2F6DA0430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5" y="884902"/>
            <a:ext cx="11602065" cy="5718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Baseline </a:t>
            </a:r>
            <a:r>
              <a:rPr lang="en-IN" sz="2000" dirty="0" err="1">
                <a:latin typeface="Bookman Old Style" panose="02050604050505020204" pitchFamily="18" charset="0"/>
              </a:rPr>
              <a:t>airfoil</a:t>
            </a:r>
            <a:r>
              <a:rPr lang="en-IN" sz="2000" dirty="0">
                <a:latin typeface="Bookman Old Style" panose="02050604050505020204" pitchFamily="18" charset="0"/>
              </a:rPr>
              <a:t> name = E423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IN" sz="2000" dirty="0">
                <a:latin typeface="Bookman Old Style" panose="02050604050505020204" pitchFamily="18" charset="0"/>
              </a:rPr>
              <a:t>Design </a:t>
            </a:r>
            <a:r>
              <a:rPr lang="en-IN" sz="2000" dirty="0" err="1">
                <a:latin typeface="Bookman Old Style" panose="02050604050505020204" pitchFamily="18" charset="0"/>
              </a:rPr>
              <a:t>Condns</a:t>
            </a:r>
            <a:r>
              <a:rPr lang="en-IN" sz="2000" dirty="0">
                <a:latin typeface="Bookman Old Style" panose="02050604050505020204" pitchFamily="18" charset="0"/>
              </a:rPr>
              <a:t>. : Re = 500k, M=0.1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IN" sz="2000" dirty="0">
                <a:latin typeface="Bookman Old Style" panose="02050604050505020204" pitchFamily="18" charset="0"/>
              </a:rPr>
              <a:t>for </a:t>
            </a:r>
            <a:r>
              <a:rPr lang="en-IN" sz="2000" dirty="0" err="1">
                <a:latin typeface="Bookman Old Style" panose="02050604050505020204" pitchFamily="18" charset="0"/>
              </a:rPr>
              <a:t>AoA</a:t>
            </a:r>
            <a:r>
              <a:rPr lang="en-IN" sz="2000" dirty="0">
                <a:latin typeface="Bookman Old Style" panose="02050604050505020204" pitchFamily="18" charset="0"/>
              </a:rPr>
              <a:t> = 0° to 10°</a:t>
            </a:r>
          </a:p>
          <a:p>
            <a:pPr marL="0" indent="0">
              <a:buNone/>
            </a:pPr>
            <a:r>
              <a:rPr lang="en-IN" sz="2000" dirty="0">
                <a:latin typeface="Bookman Old Style" panose="02050604050505020204" pitchFamily="18" charset="0"/>
              </a:rPr>
              <a:t> </a:t>
            </a: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>
                <a:latin typeface="Bookman Old Style" panose="02050604050505020204" pitchFamily="18" charset="0"/>
              </a:rPr>
              <a:t>Peak L/D= 130.740 at </a:t>
            </a:r>
            <a:r>
              <a:rPr lang="en-IN" sz="2000" dirty="0" err="1">
                <a:latin typeface="Bookman Old Style" panose="02050604050505020204" pitchFamily="18" charset="0"/>
              </a:rPr>
              <a:t>AoA</a:t>
            </a:r>
            <a:r>
              <a:rPr lang="en-IN" sz="2000" dirty="0">
                <a:latin typeface="Bookman Old Style" panose="02050604050505020204" pitchFamily="18" charset="0"/>
              </a:rPr>
              <a:t>= 5.5°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dirty="0">
                <a:latin typeface="Bookman Old Style" panose="02050604050505020204" pitchFamily="18" charset="0"/>
              </a:rPr>
              <a:t>Max thickness-to-chord ratio (t/c%)= 10.03%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% Improvement over baseline= 7.62%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IN" sz="2000" b="1" dirty="0">
                <a:latin typeface="Bookman Old Style" panose="02050604050505020204" pitchFamily="18" charset="0"/>
              </a:rPr>
              <a:t>Tools &amp; Software Used:</a:t>
            </a:r>
          </a:p>
          <a:p>
            <a:pPr>
              <a:lnSpc>
                <a:spcPct val="50000"/>
              </a:lnSpc>
            </a:pPr>
            <a:r>
              <a:rPr lang="en-IN" sz="2000" dirty="0">
                <a:latin typeface="Bookman Old Style" panose="02050604050505020204" pitchFamily="18" charset="0"/>
              </a:rPr>
              <a:t>XFLR5</a:t>
            </a:r>
          </a:p>
          <a:p>
            <a:pPr>
              <a:lnSpc>
                <a:spcPct val="50000"/>
              </a:lnSpc>
            </a:pPr>
            <a:r>
              <a:rPr lang="en-IN" sz="2000" dirty="0">
                <a:latin typeface="Bookman Old Style" panose="02050604050505020204" pitchFamily="18" charset="0"/>
              </a:rPr>
              <a:t>Ansys CFD</a:t>
            </a:r>
          </a:p>
          <a:p>
            <a:pPr>
              <a:lnSpc>
                <a:spcPct val="50000"/>
              </a:lnSpc>
            </a:pPr>
            <a:r>
              <a:rPr lang="en-IN" sz="2000" dirty="0" err="1">
                <a:latin typeface="Bookman Old Style" panose="02050604050505020204" pitchFamily="18" charset="0"/>
              </a:rPr>
              <a:t>Solidworks</a:t>
            </a: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lnSpc>
                <a:spcPct val="50000"/>
              </a:lnSpc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IN" sz="1600" dirty="0">
                <a:latin typeface="Bookman Old Style" panose="02050604050505020204" pitchFamily="18" charset="0"/>
              </a:rPr>
              <a:t>*</a:t>
            </a:r>
            <a:r>
              <a:rPr lang="en-IN" sz="1600" dirty="0" err="1">
                <a:latin typeface="Bookman Old Style" panose="02050604050505020204" pitchFamily="18" charset="0"/>
              </a:rPr>
              <a:t>ClvsAoA</a:t>
            </a:r>
            <a:r>
              <a:rPr lang="en-IN" sz="1600" dirty="0">
                <a:latin typeface="Bookman Old Style" panose="02050604050505020204" pitchFamily="18" charset="0"/>
              </a:rPr>
              <a:t> and </a:t>
            </a:r>
            <a:r>
              <a:rPr lang="en-IN" sz="1600" dirty="0" err="1">
                <a:latin typeface="Bookman Old Style" panose="02050604050505020204" pitchFamily="18" charset="0"/>
              </a:rPr>
              <a:t>CdvsAoa</a:t>
            </a:r>
            <a:r>
              <a:rPr lang="en-IN" sz="1600" dirty="0">
                <a:latin typeface="Bookman Old Style" panose="02050604050505020204" pitchFamily="18" charset="0"/>
              </a:rPr>
              <a:t> plots included in next slide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4D6976-9D22-CA23-C8AB-2DF13881D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327148"/>
              </p:ext>
            </p:extLst>
          </p:nvPr>
        </p:nvGraphicFramePr>
        <p:xfrm>
          <a:off x="501447" y="1794648"/>
          <a:ext cx="4326192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74837">
                  <a:extLst>
                    <a:ext uri="{9D8B030D-6E8A-4147-A177-3AD203B41FA5}">
                      <a16:colId xmlns:a16="http://schemas.microsoft.com/office/drawing/2014/main" val="1030931186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4086663628"/>
                    </a:ext>
                  </a:extLst>
                </a:gridCol>
                <a:gridCol w="1582994">
                  <a:extLst>
                    <a:ext uri="{9D8B030D-6E8A-4147-A177-3AD203B41FA5}">
                      <a16:colId xmlns:a16="http://schemas.microsoft.com/office/drawing/2014/main" val="3237230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E423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Optimized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57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Cl @ 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1.59003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1.67559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389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Cd @ 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0.01317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0.01289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645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L/D @ 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120.743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okman Old Style" panose="02050604050505020204" pitchFamily="18" charset="0"/>
                        </a:rPr>
                        <a:t>129.944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77099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5973F5B-684D-0E9A-BD09-AD3E755F3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" t="1542" r="25723" b="1179"/>
          <a:stretch>
            <a:fillRect/>
          </a:stretch>
        </p:blipFill>
        <p:spPr>
          <a:xfrm>
            <a:off x="6701299" y="254280"/>
            <a:ext cx="4542502" cy="4342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B5FE81-0FD6-AFCB-E496-1C18FCF48D50}"/>
              </a:ext>
            </a:extLst>
          </p:cNvPr>
          <p:cNvSpPr txBox="1"/>
          <p:nvPr/>
        </p:nvSpPr>
        <p:spPr>
          <a:xfrm>
            <a:off x="7944464" y="4596686"/>
            <a:ext cx="22589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Cl vs Cd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B85E85-55B6-1CFF-9029-D75771BC0E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3801" y="365126"/>
            <a:ext cx="850920" cy="1145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78D2FD-E849-42A1-3CD4-1098A9612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984" y="883002"/>
            <a:ext cx="850920" cy="1800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CDF16C-4EA9-10EE-C9FE-DB6D7D656DFA}"/>
              </a:ext>
            </a:extLst>
          </p:cNvPr>
          <p:cNvSpPr txBox="1"/>
          <p:nvPr/>
        </p:nvSpPr>
        <p:spPr>
          <a:xfrm>
            <a:off x="11315340" y="460149"/>
            <a:ext cx="712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E423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7A3500-DB9A-7160-BC16-8DF75FAC0990}"/>
              </a:ext>
            </a:extLst>
          </p:cNvPr>
          <p:cNvSpPr txBox="1"/>
          <p:nvPr/>
        </p:nvSpPr>
        <p:spPr>
          <a:xfrm>
            <a:off x="11243801" y="1084239"/>
            <a:ext cx="1148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Modified</a:t>
            </a:r>
          </a:p>
          <a:p>
            <a:r>
              <a:rPr lang="en-IN" sz="1600" dirty="0">
                <a:latin typeface="Bookman Old Style" panose="02050604050505020204" pitchFamily="18" charset="0"/>
              </a:rPr>
              <a:t>E423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6D215-91C3-2A59-844C-4A6A8573E467}"/>
              </a:ext>
            </a:extLst>
          </p:cNvPr>
          <p:cNvSpPr txBox="1"/>
          <p:nvPr/>
        </p:nvSpPr>
        <p:spPr>
          <a:xfrm>
            <a:off x="5879689" y="4898754"/>
            <a:ext cx="6215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Bookman Old Style" panose="02050604050505020204" pitchFamily="18" charset="0"/>
              </a:rPr>
              <a:t>The modified airfoil polar sits above and to the left of the baseline E423, confirming a superior lift-to-drag ratio across the operating range. The modified airfoil reaches higher Cl values at equivalent or lower Cd, making it the aerodynamically more efficient choice - particularly relevant around the Cl ≈ 1.6–1.8 cruise region.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77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758030-09F3-F6CB-FF96-9B8991EA0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20" y="365125"/>
            <a:ext cx="10515600" cy="248769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latin typeface="Bookman Old Style" panose="02050604050505020204" pitchFamily="18" charset="0"/>
              </a:rPr>
              <a:t>Cl &amp; Cd vs </a:t>
            </a:r>
            <a:r>
              <a:rPr lang="en-IN" sz="3600" dirty="0" err="1">
                <a:latin typeface="Bookman Old Style" panose="02050604050505020204" pitchFamily="18" charset="0"/>
              </a:rPr>
              <a:t>AoA</a:t>
            </a:r>
            <a:r>
              <a:rPr lang="en-IN" sz="3600" dirty="0">
                <a:latin typeface="Bookman Old Style" panose="02050604050505020204" pitchFamily="18" charset="0"/>
              </a:rPr>
              <a:t> plots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9944300-572F-A5BC-3911-F3CE0B0D58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" t="1678" r="26212" b="1333"/>
          <a:stretch>
            <a:fillRect/>
          </a:stretch>
        </p:blipFill>
        <p:spPr>
          <a:xfrm>
            <a:off x="383820" y="707923"/>
            <a:ext cx="4315999" cy="411974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D9728E8-0BE5-5908-45F5-50A4C48FCD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" t="1505" r="25967" b="1507"/>
          <a:stretch>
            <a:fillRect/>
          </a:stretch>
        </p:blipFill>
        <p:spPr>
          <a:xfrm>
            <a:off x="7492183" y="707922"/>
            <a:ext cx="4316000" cy="41197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39CAD1-C133-A9CC-6664-5CBF7B2EBCA0}"/>
              </a:ext>
            </a:extLst>
          </p:cNvPr>
          <p:cNvSpPr txBox="1"/>
          <p:nvPr/>
        </p:nvSpPr>
        <p:spPr>
          <a:xfrm>
            <a:off x="1147785" y="4830237"/>
            <a:ext cx="23743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Cl vs </a:t>
            </a:r>
            <a:r>
              <a:rPr lang="en-IN" sz="1600" dirty="0" err="1">
                <a:latin typeface="Bookman Old Style" panose="02050604050505020204" pitchFamily="18" charset="0"/>
              </a:rPr>
              <a:t>AoA</a:t>
            </a:r>
            <a:r>
              <a:rPr lang="en-IN" sz="1600" dirty="0">
                <a:latin typeface="Bookman Old Style" panose="02050604050505020204" pitchFamily="18" charset="0"/>
              </a:rPr>
              <a:t> comparison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5DD81-EBC6-56F4-7894-E508D7D8B2D5}"/>
              </a:ext>
            </a:extLst>
          </p:cNvPr>
          <p:cNvSpPr txBox="1"/>
          <p:nvPr/>
        </p:nvSpPr>
        <p:spPr>
          <a:xfrm>
            <a:off x="8397339" y="4778917"/>
            <a:ext cx="2440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latin typeface="Bookman Old Style" panose="02050604050505020204" pitchFamily="18" charset="0"/>
              </a:rPr>
              <a:t>Cd vs </a:t>
            </a:r>
            <a:r>
              <a:rPr lang="en-IN" sz="1600" dirty="0" err="1">
                <a:latin typeface="Bookman Old Style" panose="02050604050505020204" pitchFamily="18" charset="0"/>
              </a:rPr>
              <a:t>AoA</a:t>
            </a:r>
            <a:r>
              <a:rPr lang="en-IN" sz="1600" dirty="0">
                <a:latin typeface="Bookman Old Style" panose="02050604050505020204" pitchFamily="18" charset="0"/>
              </a:rPr>
              <a:t>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D9E36-A96B-B5CC-2C2A-B186AF826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637" y="816443"/>
            <a:ext cx="1073208" cy="144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6537BE-2B4A-BB6E-3C03-1CE687374C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637" y="1163464"/>
            <a:ext cx="1073208" cy="2270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A42C4C-9D20-DE53-F30C-766E745EE06C}"/>
              </a:ext>
            </a:extLst>
          </p:cNvPr>
          <p:cNvSpPr txBox="1"/>
          <p:nvPr/>
        </p:nvSpPr>
        <p:spPr>
          <a:xfrm>
            <a:off x="6096000" y="704013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E423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F8F818-D794-0C56-9E56-4BF2CEA16B08}"/>
              </a:ext>
            </a:extLst>
          </p:cNvPr>
          <p:cNvSpPr txBox="1"/>
          <p:nvPr/>
        </p:nvSpPr>
        <p:spPr>
          <a:xfrm>
            <a:off x="6096000" y="1092310"/>
            <a:ext cx="114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Bookman Old Style" panose="02050604050505020204" pitchFamily="18" charset="0"/>
              </a:rPr>
              <a:t>Modified</a:t>
            </a:r>
          </a:p>
          <a:p>
            <a:r>
              <a:rPr lang="en-IN" dirty="0">
                <a:latin typeface="Bookman Old Style" panose="02050604050505020204" pitchFamily="18" charset="0"/>
              </a:rPr>
              <a:t>E423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975F6-7BD7-618A-7ACC-CD2A7C7D4AA7}"/>
              </a:ext>
            </a:extLst>
          </p:cNvPr>
          <p:cNvSpPr txBox="1"/>
          <p:nvPr/>
        </p:nvSpPr>
        <p:spPr>
          <a:xfrm>
            <a:off x="6827761" y="5023875"/>
            <a:ext cx="52598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Bookman Old Style" panose="02050604050505020204" pitchFamily="18" charset="0"/>
              </a:rPr>
              <a:t>The modified airfoil maintains lower drag than the baseline E423 across mid-range angles (4°–9°), suggesting the modification reduces pressure drag in the operationally relevant </a:t>
            </a:r>
            <a:r>
              <a:rPr lang="en-US" sz="1600" dirty="0" err="1">
                <a:latin typeface="Bookman Old Style" panose="02050604050505020204" pitchFamily="18" charset="0"/>
              </a:rPr>
              <a:t>AoA</a:t>
            </a:r>
            <a:r>
              <a:rPr lang="en-US" sz="1600" dirty="0">
                <a:latin typeface="Bookman Old Style" panose="02050604050505020204" pitchFamily="18" charset="0"/>
              </a:rPr>
              <a:t> range. Both airfoils show comparable drag at low </a:t>
            </a:r>
            <a:r>
              <a:rPr lang="en-US" sz="1600" dirty="0" err="1">
                <a:latin typeface="Bookman Old Style" panose="02050604050505020204" pitchFamily="18" charset="0"/>
              </a:rPr>
              <a:t>AoA</a:t>
            </a:r>
            <a:r>
              <a:rPr lang="en-US" sz="1600" dirty="0">
                <a:latin typeface="Bookman Old Style" panose="02050604050505020204" pitchFamily="18" charset="0"/>
              </a:rPr>
              <a:t> (0°–2°), with divergence becoming more pronounced beyond 5°.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3BEA8-E8C3-1F05-7124-44251D7780C9}"/>
              </a:ext>
            </a:extLst>
          </p:cNvPr>
          <p:cNvSpPr txBox="1"/>
          <p:nvPr/>
        </p:nvSpPr>
        <p:spPr>
          <a:xfrm>
            <a:off x="381724" y="5042118"/>
            <a:ext cx="52598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Bookman Old Style" panose="02050604050505020204" pitchFamily="18" charset="0"/>
              </a:rPr>
              <a:t>The modified airfoil consistently generates higher lift than E423 at every angle of attack, with the gap widening beyond 4°. The modified profile achieves a Cl of ~2.0 near 10°, outperforming the baseline by approximately 0.05–0.08, indicating improved camber effectiveness or boundary layer behavior.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783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AFA372-D1CC-968E-209E-CBA4A75A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57" y="12829"/>
            <a:ext cx="11068665" cy="578772"/>
          </a:xfrm>
        </p:spPr>
        <p:txBody>
          <a:bodyPr>
            <a:noAutofit/>
          </a:bodyPr>
          <a:lstStyle/>
          <a:p>
            <a:r>
              <a:rPr lang="en-IN" sz="3200" dirty="0">
                <a:latin typeface="Bookman Old Style" panose="02050604050505020204" pitchFamily="18" charset="0"/>
              </a:rPr>
              <a:t>CFD Validation &amp; Flow Visualization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87A7C-D3B2-C4BC-27D9-E818F29DE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057" y="511277"/>
            <a:ext cx="11729885" cy="6333894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800" dirty="0">
                <a:latin typeface="Bookman Old Style" panose="02050604050505020204" pitchFamily="18" charset="0"/>
              </a:rPr>
              <a:t>A 3D CFD study was performed in ANSYS Fluent to capture finite-span effects and more realistic flow behavior, providing a closer representation of practical operating conditions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IN" sz="1800" dirty="0">
                <a:latin typeface="Bookman Old Style" panose="02050604050505020204" pitchFamily="18" charset="0"/>
              </a:rPr>
              <a:t>CFD Results: </a:t>
            </a:r>
            <a:r>
              <a:rPr lang="en-US" sz="1800" dirty="0">
                <a:latin typeface="Bookman Old Style" panose="02050604050505020204" pitchFamily="18" charset="0"/>
              </a:rPr>
              <a:t>The optimized E423 achieved a lift coefficient of 0.50 compared to 0.47 for the baseline airfoil, representing a 6.4% increase in lift.</a:t>
            </a: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7442BA-8E20-EEB2-6CC8-94219661A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6" y="1623505"/>
            <a:ext cx="3569621" cy="2540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562194-AFA9-4744-56C9-789DD3A86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5" y="4403703"/>
            <a:ext cx="3569622" cy="2352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17582D-D69C-0698-22C7-D80F47E91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269" y="1528556"/>
            <a:ext cx="3434351" cy="24900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32CC12-19A7-1CC5-3E98-D508601F5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269" y="4298622"/>
            <a:ext cx="3434351" cy="24518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651044-1B5D-5F03-CCAD-56D39B4147B2}"/>
              </a:ext>
            </a:extLst>
          </p:cNvPr>
          <p:cNvSpPr txBox="1"/>
          <p:nvPr/>
        </p:nvSpPr>
        <p:spPr>
          <a:xfrm>
            <a:off x="3665407" y="1623505"/>
            <a:ext cx="25658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Suction peak of ~−1,222 Pa concentrated near the leading edge with gradual pressure recovery, indicating attached flow and moderate lift generation.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9CBDF6-1731-ED65-998D-B3303E87C42B}"/>
              </a:ext>
            </a:extLst>
          </p:cNvPr>
          <p:cNvSpPr txBox="1"/>
          <p:nvPr/>
        </p:nvSpPr>
        <p:spPr>
          <a:xfrm>
            <a:off x="3665407" y="4368967"/>
            <a:ext cx="25658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Flow accelerates to ~48.5 m/s over the upper surface with a clean, minimal wake - confirming attached boundary layer at </a:t>
            </a:r>
            <a:r>
              <a:rPr lang="en-US" sz="1600" dirty="0" err="1">
                <a:latin typeface="Bookman Old Style" panose="02050604050505020204" pitchFamily="18" charset="0"/>
              </a:rPr>
              <a:t>AoA</a:t>
            </a:r>
            <a:r>
              <a:rPr lang="en-US" sz="1600" dirty="0">
                <a:latin typeface="Bookman Old Style" panose="02050604050505020204" pitchFamily="18" charset="0"/>
              </a:rPr>
              <a:t> = 5°.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3BEDE-21CA-FC88-EE6D-5090C878E01A}"/>
              </a:ext>
            </a:extLst>
          </p:cNvPr>
          <p:cNvSpPr txBox="1"/>
          <p:nvPr/>
        </p:nvSpPr>
        <p:spPr>
          <a:xfrm>
            <a:off x="433959" y="4164287"/>
            <a:ext cx="28763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dirty="0">
                <a:latin typeface="Bookman Old Style" panose="02050604050505020204" pitchFamily="18" charset="0"/>
              </a:rPr>
              <a:t>Pressure and Velocity Contours of E423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3098CC-DCB2-8938-8E01-C92234BDC39C}"/>
              </a:ext>
            </a:extLst>
          </p:cNvPr>
          <p:cNvSpPr txBox="1"/>
          <p:nvPr/>
        </p:nvSpPr>
        <p:spPr>
          <a:xfrm>
            <a:off x="6192196" y="4020392"/>
            <a:ext cx="35124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dirty="0">
                <a:latin typeface="Bookman Old Style" panose="02050604050505020204" pitchFamily="18" charset="0"/>
              </a:rPr>
              <a:t>Pressure and Velocity Contours of Optimized E423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D0E680-93F3-BBFB-351D-F798BFB5C6F4}"/>
              </a:ext>
            </a:extLst>
          </p:cNvPr>
          <p:cNvSpPr txBox="1"/>
          <p:nvPr/>
        </p:nvSpPr>
        <p:spPr>
          <a:xfrm>
            <a:off x="9743768" y="1439120"/>
            <a:ext cx="23524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Suction peak intensifies to ~−1,661 Pa (~36% stronger), with the low-pressure zone extending further along the chord - directly explaining the higher Cl in the modified design.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9217FB-B9C8-0A78-401C-6E0F321C7368}"/>
              </a:ext>
            </a:extLst>
          </p:cNvPr>
          <p:cNvSpPr txBox="1"/>
          <p:nvPr/>
        </p:nvSpPr>
        <p:spPr>
          <a:xfrm>
            <a:off x="9665619" y="4083101"/>
            <a:ext cx="243059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Peak velocity rises to ~52.65 m/s with accelerated flow extending further aft. Subtle trailing-edge recirculation hints at a boundary layer approaching its separation limit -a tradeoff for the lift gain.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048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333</TotalTime>
  <Words>800</Words>
  <Application>Microsoft Office PowerPoint</Application>
  <PresentationFormat>Widescreen</PresentationFormat>
  <Paragraphs>109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Bookman Old Style</vt:lpstr>
      <vt:lpstr>Office Theme</vt:lpstr>
      <vt:lpstr>Packager Shell Object</vt:lpstr>
      <vt:lpstr>NextGen Airfoil</vt:lpstr>
      <vt:lpstr>Problem Understanding + Planning &amp; Approach + Implementation Details</vt:lpstr>
      <vt:lpstr>Innovativeness of the Solution + Design Rationale</vt:lpstr>
      <vt:lpstr>Results + Performance Comparison</vt:lpstr>
      <vt:lpstr>Cl &amp; Cd vs AoA plots</vt:lpstr>
      <vt:lpstr>CFD Validation &amp; Flow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Srima Revankar</dc:creator>
  <cp:lastModifiedBy>Srima Revankar</cp:lastModifiedBy>
  <cp:revision>2</cp:revision>
  <dcterms:created xsi:type="dcterms:W3CDTF">2026-06-07T12:06:19Z</dcterms:created>
  <dcterms:modified xsi:type="dcterms:W3CDTF">2026-06-07T18:03:06Z</dcterms:modified>
</cp:coreProperties>
</file>